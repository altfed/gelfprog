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9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BOLOMETRO SIMULATO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</a:rPr>
              <a:t>Forward Model  ·  Rumore Gaussiano  ·  Densità di Potenza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D8"/>
                </a:solidFill>
              </a:rPr>
              <a:t>Simulazione fisica di un sensore bolometrico:
catena P → ΔT → ΔR → ΔV con saturazione, rumore e spettro di corpo nero.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PANORAMICA DEL PROGETTO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868680"/>
            <a:ext cx="2651760" cy="38404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" y="868680"/>
            <a:ext cx="2651760" cy="347472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90525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BLOCCO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52728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Forward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09928"/>
            <a:ext cx="24688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D8"/>
                </a:solidFill>
              </a:rPr>
              <a:t>Catena fisica completa: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P → ΔT → ΔR → ΔV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Saturazione termica (ΔT &gt; ΔT_max)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e saturazione elettrica (|ΔV| &gt; V_sat).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868680"/>
            <a:ext cx="2651760" cy="38404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868680"/>
            <a:ext cx="2651760" cy="347472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90525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BLOCCO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252728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Modulo Rumore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709928"/>
            <a:ext cx="24688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D8"/>
                </a:solidFill>
              </a:rPr>
              <a:t>Rumore gaussiano generico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(rms = V_noise = 10⁻⁵ V).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Calcola SNR e NEP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per ogni punto di potenza.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868680"/>
            <a:ext cx="2651760" cy="38404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868680"/>
            <a:ext cx="2651760" cy="347472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90525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BLOCCO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252728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Densità di Potenza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1709928"/>
            <a:ext cx="24688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D8"/>
                </a:solidFill>
              </a:rPr>
              <a:t>Spettro di Planck B(f,T)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a T = 85 eV (~10⁶ K).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Assorbanza A(f) del Platino.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P_abs = ∫ B·A df  [W/m²/sr]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BLOCCO 1 — CATENA FISICA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Modello stazionario: bilancio termico + TCR + corrente di bias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828800" cy="20116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8288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2412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
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D8"/>
                </a:solidFill>
              </a:rPr>
              <a:t>Potenza
assorbita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1005840"/>
            <a:ext cx="1828800" cy="20116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1005840"/>
            <a:ext cx="18288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02412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ΔT
[K]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D8"/>
                </a:solidFill>
              </a:rPr>
              <a:t>ΔT = P / 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005840"/>
            <a:ext cx="1828800" cy="20116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005840"/>
            <a:ext cx="18288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102412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ΔR
[Ω]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D8"/>
                </a:solidFill>
              </a:rPr>
              <a:t>ΔR = R₀·α·ΔT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005840"/>
            <a:ext cx="1828800" cy="20116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1005840"/>
            <a:ext cx="1828800" cy="4572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02412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ΔV
[V]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D8"/>
                </a:solidFill>
              </a:rPr>
              <a:t>ΔV = I_bias·ΔR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461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GESTIONE SATURAZIONE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566160"/>
            <a:ext cx="4114800" cy="123444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611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6F51"/>
                </a:solidFill>
              </a:rPr>
              <a:t>🌡  Termica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9319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Se ΔT &gt; ΔT_max (50 K) il sensore è in pericolo di danno fisico.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566160"/>
            <a:ext cx="4114800" cy="123444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3611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</a:rPr>
              <a:t>⚡  Elettrica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9319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Se |ΔV| &gt; V_sat (1.0 V) l'amplificatore va in saturazione (rail).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PARAMETRI FISICI DEL BOLOMETRO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Valori tipici di riferimento per un bolometro a foglio metallico (Platino)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961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Parametro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896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Simbolo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896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Valore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896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Unità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52728"/>
            <a:ext cx="8595360" cy="374904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Resistenza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280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280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280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27632"/>
            <a:ext cx="8595360" cy="374904"/>
          </a:xfrm>
          <a:prstGeom prst="rect">
            <a:avLst/>
          </a:prstGeom>
          <a:solidFill>
            <a:srgbClr val="1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65506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TCR (Platino)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65506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65506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3.9×10⁻³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65506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1/K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002536"/>
            <a:ext cx="8595360" cy="374904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02996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Conduttanza termica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02996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02996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1×10⁻⁴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02996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W/K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77440"/>
            <a:ext cx="8595360" cy="374904"/>
          </a:xfrm>
          <a:prstGeom prst="rect">
            <a:avLst/>
          </a:prstGeom>
          <a:solidFill>
            <a:srgbClr val="1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404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Capacità termica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404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404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1×10⁻⁶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404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J/K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752344"/>
            <a:ext cx="8595360" cy="374904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27797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Corrente di bias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27797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I_bias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27797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1×10⁻³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7797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127248"/>
            <a:ext cx="8595360" cy="374904"/>
          </a:xfrm>
          <a:prstGeom prst="rect">
            <a:avLst/>
          </a:prstGeom>
          <a:solidFill>
            <a:srgbClr val="1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15467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Temperatura 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1546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31546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31546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502152"/>
            <a:ext cx="8595360" cy="374904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3529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Saturazione tensione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35295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V_sat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35295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35295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877056"/>
            <a:ext cx="8595360" cy="374904"/>
          </a:xfrm>
          <a:prstGeom prst="rect">
            <a:avLst/>
          </a:prstGeom>
          <a:solidFill>
            <a:srgbClr val="1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90448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Saturazione termica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390448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ΔT_max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9044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390448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251960"/>
            <a:ext cx="8595360" cy="374904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279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Banda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4279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4279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1×10³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4279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Hz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626864"/>
            <a:ext cx="8595360" cy="374904"/>
          </a:xfrm>
          <a:prstGeom prst="rect">
            <a:avLst/>
          </a:prstGeom>
          <a:solidFill>
            <a:srgbClr val="1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46542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Rumore rms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46542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V_noise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0" y="4654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1×10⁻⁵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46542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23760" y="2286000"/>
            <a:ext cx="1737360" cy="100584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0" y="23317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τ = C/G = 10 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2743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costante di tempo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BLOCCO 2 — MODULO RUMORE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Rumore gaussiano generico aggiunto al segnale saturato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Modello di rumore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ΔV_noisy = ΔV + V_noise · 𝒩(0,1)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</a:rPr>
              <a:t>NEP = V_noise · G / (I_bias · R₀ · α)  ≈  2.56×10⁻⁶ 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2697480" cy="283464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011680"/>
            <a:ext cx="2697480" cy="4572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29968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6F51"/>
                </a:solidFill>
              </a:rPr>
              <a:t>RUMORE
DOMINANTE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14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SNR &lt;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9260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D8"/>
                </a:solidFill>
              </a:rPr>
              <a:t>Il segnale è sepolto nel rumore.
Ricupero impossibile.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011680"/>
            <a:ext cx="2697480" cy="283464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2011680"/>
            <a:ext cx="2697480" cy="4572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029968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A9D8F"/>
                </a:solidFill>
              </a:rPr>
              <a:t>RICOSTRUIBILE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514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SNR ≥ 1 e non saturato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9260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D8"/>
                </a:solidFill>
              </a:rPr>
              <a:t>Inversione del modello affidabile.
Regime operativo ottimale.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011680"/>
            <a:ext cx="2697480" cy="283464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011680"/>
            <a:ext cx="2697480" cy="4572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2029968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</a:rPr>
              <a:t>SATURATO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514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ΔT &gt; 50K  o  |ΔV| &gt; 1V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9260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D8"/>
                </a:solidFill>
              </a:rPr>
              <a:t>Limite fisico raggiunto.
Informazione parziale o nulla.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RISULTATI — BLOCCHI 1 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Segnale ideale (sx) e segnale reale con saturazione + rumore (dx).</a:t>
            </a:r>
          </a:p>
        </p:txBody>
      </p:sp>
      <p:pic>
        <p:nvPicPr>
          <p:cNvPr id="7" name="Picture 6" descr="blocchi_1_2_risult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BLOCCO 3 — RADIAZIONE DI CORPO NERO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Spettro di Planck integrato sull'assorbanza del platino → potenza assorbita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5486400" cy="210312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Formula di Planck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B(f,T) = (2hf³/c²) / (e^(hf/kT) − 1)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8"/>
                </a:solidFill>
              </a:rPr>
              <a:t>h = 6.626×10⁻³⁴ J·s    c = 3×10⁸ m/s    k_B = 1.381×10⁻²³ J/K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8D8"/>
                </a:solidFill>
              </a:rPr>
              <a:t>Unità: W / m² / sr / Hz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868680"/>
            <a:ext cx="2834640" cy="210312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914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Parametri sorgente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298448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D8"/>
                </a:solidFill>
              </a:rPr>
              <a:t>T = 85 eV ≈ 10⁶ K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(plasma di bordo, fusione)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f_peak ≈ 6×10¹⁶ Hz</a:t>
            </a:r>
          </a:p>
          <a:p>
            <a:pPr algn="l"/>
            <a:r>
              <a:rPr sz="1100" b="0">
                <a:solidFill>
                  <a:srgbClr val="B0C8D8"/>
                </a:solidFill>
              </a:rPr>
              <a:t>(raggi X molli)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Range di frequenze integrato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1463040" cy="50292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584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3×10¹⁴ 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NIR
1000 nm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37033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48256" y="3566160"/>
            <a:ext cx="1463040" cy="50292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3976" y="3584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3×10¹⁵ 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93976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UV
100 nm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37033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0752" y="3566160"/>
            <a:ext cx="1463040" cy="50292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76472" y="3584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3×10¹⁶ 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EUV
10 nm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7033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13248" y="3566160"/>
            <a:ext cx="1463040" cy="50292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8968" y="3584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3×10¹⁷ Hz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X molli
1 nm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7033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3566160"/>
            <a:ext cx="1463040" cy="50292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41464" y="3584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3×10¹⁸ Hz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1464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Raggi X
0.1 nm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BLOCCO 3 — ASSORBANZA DEL PLATINO A(f)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Modello semplificato: interpolazione lineare in log su 7 punti dalla letteratura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5029200" cy="393192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Punti chiave (letteratura)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5029200" cy="32004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 [Hz]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A(f)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81912"/>
            <a:ext cx="5029200" cy="338328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093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3×10¹⁴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16093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NIR  1000nm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6093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20240"/>
            <a:ext cx="5029200" cy="338328"/>
          </a:xfrm>
          <a:prstGeom prst="rect">
            <a:avLst/>
          </a:prstGeom>
          <a:solidFill>
            <a:srgbClr val="1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6×10¹⁴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19476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VIS   500nm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9476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58568"/>
            <a:ext cx="5029200" cy="338328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286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1.5×10¹⁵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286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UV   200nm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286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96896"/>
            <a:ext cx="5029200" cy="338328"/>
          </a:xfrm>
          <a:prstGeom prst="rect">
            <a:avLst/>
          </a:prstGeom>
          <a:solidFill>
            <a:srgbClr val="1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624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3×10¹⁵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624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VUV  100nm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624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0.65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935224"/>
            <a:ext cx="5029200" cy="338328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9626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3×10¹⁶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29626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EUV   10nm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29626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73552"/>
            <a:ext cx="5029200" cy="338328"/>
          </a:xfrm>
          <a:prstGeom prst="rect">
            <a:avLst/>
          </a:prstGeom>
          <a:solidFill>
            <a:srgbClr val="1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300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3×10¹⁷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3300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X-soft  1nm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3300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0.95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611879"/>
            <a:ext cx="5029200" cy="338328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63931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3×10¹⁸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363931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X-ray 0.1nm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63931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0.99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868680"/>
            <a:ext cx="3291840" cy="393192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914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Formula MATLAB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1298448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8FF"/>
                </a:solidFill>
              </a:rPr>
              <a:t>A = interp1(</a:t>
            </a:r>
          </a:p>
          <a:p>
            <a:pPr algn="l"/>
            <a:r>
              <a:rPr sz="1000" b="0">
                <a:solidFill>
                  <a:srgbClr val="A8D8FF"/>
                </a:solidFill>
              </a:rPr>
              <a:t>  log10(f_data),</a:t>
            </a:r>
          </a:p>
          <a:p>
            <a:pPr algn="l"/>
            <a:r>
              <a:rPr sz="1000" b="0">
                <a:solidFill>
                  <a:srgbClr val="A8D8FF"/>
                </a:solidFill>
              </a:rPr>
              <a:t>  A_data,</a:t>
            </a:r>
          </a:p>
          <a:p>
            <a:pPr algn="l"/>
            <a:r>
              <a:rPr sz="1000" b="0">
                <a:solidFill>
                  <a:srgbClr val="A8D8FF"/>
                </a:solidFill>
              </a:rPr>
              <a:t>  log10(f),</a:t>
            </a:r>
          </a:p>
          <a:p>
            <a:pPr algn="l"/>
            <a:r>
              <a:rPr sz="1000" b="0">
                <a:solidFill>
                  <a:srgbClr val="A8D8FF"/>
                </a:solidFill>
              </a:rPr>
              <a:t>  'linear', 'extrap'</a:t>
            </a:r>
          </a:p>
          <a:p>
            <a:pPr algn="l"/>
            <a:r>
              <a:rPr sz="1000" b="0">
                <a:solidFill>
                  <a:srgbClr val="A8D8FF"/>
                </a:solidFill>
              </a:rPr>
              <a:t>);</a:t>
            </a:r>
          </a:p>
          <a:p>
            <a:pPr algn="l"/>
            <a:r>
              <a:rPr sz="1000" b="0">
                <a:solidFill>
                  <a:srgbClr val="A8D8FF"/>
                </a:solidFill>
              </a:rPr>
              <a:t>A = max(0, min(1, A));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3931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8D8"/>
                </a:solidFill>
              </a:rPr>
              <a:t>Interpolazione lineare
in spazio log-log.
Clamp in [0, 1].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BLOCCO 3 — POTENZA ASSORBITA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Integrale numerico (regola dei trapezi) su 500 punti in scala logaritmica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8595360" cy="118872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P_abs = ∫ B(f,T) · A(f) 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D8"/>
                </a:solidFill>
              </a:rPr>
              <a:t>[W / m² / sr]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Implementazione: trapz(f, B .* 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2011680" cy="256032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2011680" cy="41148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3042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2257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Genera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788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8FF"/>
                </a:solidFill>
              </a:rPr>
              <a:t>logspace(log10(3e14),</a:t>
            </a:r>
          </a:p>
          <a:p>
            <a:pPr algn="l"/>
            <a:r>
              <a:rPr sz="1000" b="0">
                <a:solidFill>
                  <a:srgbClr val="A8D8FF"/>
                </a:solidFill>
              </a:rPr>
              <a:t>log10(3e18), 500)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32918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79" y="2286000"/>
            <a:ext cx="2011680" cy="256032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79" y="2286000"/>
            <a:ext cx="2011680" cy="41148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3042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32257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Calcola B(f,T)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2788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8FF"/>
                </a:solidFill>
              </a:rPr>
              <a:t>(2hf³/c²)/</a:t>
            </a:r>
          </a:p>
          <a:p>
            <a:pPr algn="l"/>
            <a:r>
              <a:rPr sz="1000" b="0">
                <a:solidFill>
                  <a:srgbClr val="A8D8FF"/>
                </a:solidFill>
              </a:rPr>
              <a:t>(e^(hf/kT)−1)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2918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286000"/>
            <a:ext cx="2011680" cy="256032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2286000"/>
            <a:ext cx="2011680" cy="41148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23042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32257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Assorbanza A(f)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788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8FF"/>
                </a:solidFill>
              </a:rPr>
              <a:t>platinum_absorptance(f)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2918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7999" y="2286000"/>
            <a:ext cx="2011680" cy="256032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999" y="2286000"/>
            <a:ext cx="2011680" cy="41148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1" y="23042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232257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Integra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7" y="2788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8FF"/>
                </a:solidFill>
              </a:rPr>
              <a:t>P_abs = trapz(f, B.*A)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</a:rPr>
              <a:t>Risultato con T = 85 eV:   P_abs ≈ 1.46×10¹⁶ W/m²/sr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RISULTATI — BLOCCO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Spettro di Planck · Assorbanza Pt · Integrando B·A  (T = 85 eV, range 3×10¹⁴ – 3×10¹⁸ Hz)</a:t>
            </a:r>
          </a:p>
        </p:txBody>
      </p:sp>
      <p:pic>
        <p:nvPicPr>
          <p:cNvPr id="7" name="Picture 6" descr="blocco3_risult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PIPELINE COMPLETA — BLOCCHI 1 + 2 + 3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Dalla sorgente fisica all'uscita del sensore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88720"/>
            <a:ext cx="1280160" cy="15544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188720"/>
            <a:ext cx="128016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2070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CORPO NERO
T = 85 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5727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B(f,T)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64208" y="1188720"/>
            <a:ext cx="1280160" cy="15544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208" y="1188720"/>
            <a:ext cx="1280160" cy="3200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09928" y="12070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ASSORBANZA
Platino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15727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× A(f)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45536" y="1188720"/>
            <a:ext cx="1280160" cy="15544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45536" y="1188720"/>
            <a:ext cx="1280160" cy="3200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1256" y="12070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POTENZA
Assorbita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1256" y="15727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∫ df → P_abs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6864" y="1188720"/>
            <a:ext cx="1280160" cy="15544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26864" y="1188720"/>
            <a:ext cx="1280160" cy="320040"/>
          </a:xfrm>
          <a:prstGeom prst="rect">
            <a:avLst/>
          </a:prstGeom>
          <a:solidFill>
            <a:srgbClr val="E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4" y="12070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FORWARD
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15727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P → ΔV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5312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08192" y="1188720"/>
            <a:ext cx="1280160" cy="15544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08192" y="1188720"/>
            <a:ext cx="1280160" cy="3200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12070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RUMORE
Gaussiano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15727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+ V_noise·𝒩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1188720"/>
            <a:ext cx="1280160" cy="155448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118872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12070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2137"/>
                </a:solidFill>
              </a:rPr>
              <a:t>USCITA
ΔV_noisy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15727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D8"/>
                </a:solidFill>
              </a:rPr>
              <a:t>[V]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971800"/>
            <a:ext cx="8595360" cy="1920240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Codice MATLAB — utilizzo completo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3401568"/>
            <a:ext cx="8321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D8FF"/>
                </a:solidFill>
              </a:rPr>
              <a:t>p   = bolometer_params();</a:t>
            </a:r>
          </a:p>
          <a:p>
            <a:pPr algn="l"/>
            <a:r>
              <a:rPr sz="1100" b="0">
                <a:solidFill>
                  <a:srgbClr val="A8D8FF"/>
                </a:solidFill>
              </a:rPr>
              <a:t>pd  = power_density(T_source, p);    % Blocco 3: P_abs</a:t>
            </a:r>
          </a:p>
          <a:p>
            <a:pPr algn="l"/>
            <a:r>
              <a:rPr sz="1100" b="0">
                <a:solidFill>
                  <a:srgbClr val="A8D8FF"/>
                </a:solidFill>
              </a:rPr>
              <a:t>fwd = forward_model(pd.P_abs, p);    % Blocco 1: ΔV</a:t>
            </a:r>
          </a:p>
          <a:p>
            <a:pPr algn="l"/>
            <a:r>
              <a:rPr sz="1100" b="0">
                <a:solidFill>
                  <a:srgbClr val="A8D8FF"/>
                </a:solidFill>
              </a:rPr>
              <a:t>nr  = add_noise_to_signal(fwd.DeltaV, p);  % Blocco 2: ΔV_noisy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STRUTTURA DEI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Cartella: blocco_1_2_3/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8595360" cy="347472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896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Blocco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896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Descrizione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16152"/>
            <a:ext cx="8595360" cy="402336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4358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FF"/>
                </a:solidFill>
              </a:rPr>
              <a:t>bolometer_params.m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24358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24358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8"/>
                </a:solidFill>
              </a:rPr>
              <a:t>Parametri fisici del bolometro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18488"/>
            <a:ext cx="8595360" cy="402336"/>
          </a:xfrm>
          <a:prstGeom prst="rect">
            <a:avLst/>
          </a:prstGeom>
          <a:solidFill>
            <a:srgbClr val="1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64592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FF"/>
                </a:solidFill>
              </a:rPr>
              <a:t>forward_model.m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6459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64592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8"/>
                </a:solidFill>
              </a:rPr>
              <a:t>P → ΔT → ΔR → ΔV con saturazione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020824"/>
            <a:ext cx="8595360" cy="402336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04825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FF"/>
                </a:solidFill>
              </a:rPr>
              <a:t>add_noise_to_signal.m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04825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04825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8"/>
                </a:solidFill>
              </a:rPr>
              <a:t>Rumore gaussiano generico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23160"/>
            <a:ext cx="8595360" cy="402336"/>
          </a:xfrm>
          <a:prstGeom prst="rect">
            <a:avLst/>
          </a:prstGeom>
          <a:solidFill>
            <a:srgbClr val="1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45059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FF"/>
                </a:solidFill>
              </a:rPr>
              <a:t>platinum_absorptance.m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45059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45059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8"/>
                </a:solidFill>
              </a:rPr>
              <a:t>Assorbanza A(f) del Platino (NIR → X)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825496"/>
            <a:ext cx="8595360" cy="402336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85292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FF"/>
                </a:solidFill>
              </a:rPr>
              <a:t>power_density.m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85292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85292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8"/>
                </a:solidFill>
              </a:rPr>
              <a:t>B(f,T) × A(f) integrato → P_abs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27832"/>
            <a:ext cx="8595360" cy="402336"/>
          </a:xfrm>
          <a:prstGeom prst="rect">
            <a:avLst/>
          </a:prstGeom>
          <a:solidFill>
            <a:srgbClr val="1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25526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FF"/>
                </a:solidFill>
              </a:rPr>
              <a:t>test_blocchi_1_2.m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25526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1+2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25526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8"/>
                </a:solidFill>
              </a:rPr>
              <a:t>Test e figura blocchi 1 e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630168"/>
            <a:ext cx="8595360" cy="402336"/>
          </a:xfrm>
          <a:prstGeom prst="rect">
            <a:avLst/>
          </a:prstGeom>
          <a:solidFill>
            <a:srgbClr val="16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65760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FF"/>
                </a:solidFill>
              </a:rPr>
              <a:t>test_blocco3.m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65760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65760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8"/>
                </a:solidFill>
              </a:rPr>
              <a:t>Test e figura blocco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Esecuzione rapida: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FF"/>
                </a:solidFill>
              </a:rPr>
              <a:t>cd blocco_1_2_3/   →   test_blocchi_1_2   oppure   test_blocco3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RISULTATI — USCITA PER BANDA DI FREQUENZA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ΔV(f) = forward_model(B(f,T)·A(f))  — colorato per regime operativo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</a:rPr>
              <a:t>Segnale ideale (sx) e reale con rumore (dx) in funzione della frequenza. Verde = ricostruibile · Rosso = rumore dom. · Arancione = saturato.</a:t>
            </a:r>
          </a:p>
        </p:txBody>
      </p:sp>
      <p:pic>
        <p:nvPicPr>
          <p:cNvPr id="8" name="Picture 7" descr="blocco3_uscita_b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