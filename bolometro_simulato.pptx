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645920"/>
            <a:ext cx="9144000" cy="2011680"/>
          </a:xfrm>
          <a:prstGeom prst="rect">
            <a:avLst/>
          </a:prstGeom>
          <a:solidFill>
            <a:srgbClr val="09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BOLOMETRO SIMULATO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0B4D8"/>
                </a:solidFill>
              </a:rPr>
              <a:t>Forward Model  ·  Rumore Gaussiano  ·  Densità di Potenza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8D8"/>
                </a:solidFill>
              </a:rPr>
              <a:t>Simulazione fisica di un sensore bolometrico:
catena P → ΔT → ΔR → ΔV con saturazione, rumore e spettro di corpo nero.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9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9144000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8503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PANORAMICA DEL PROGETTO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868680"/>
            <a:ext cx="2651760" cy="3840480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92608" y="868680"/>
            <a:ext cx="2651760" cy="347472"/>
          </a:xfrm>
          <a:prstGeom prst="rect">
            <a:avLst/>
          </a:prstGeom>
          <a:solidFill>
            <a:srgbClr val="09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905256"/>
            <a:ext cx="2468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BLOCCO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252728"/>
            <a:ext cx="24688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Forward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709928"/>
            <a:ext cx="246887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8D8"/>
                </a:solidFill>
              </a:rPr>
              <a:t>Catena fisica completa:</a:t>
            </a:r>
          </a:p>
          <a:p>
            <a:pPr algn="l"/>
            <a:r>
              <a:rPr sz="1100" b="0">
                <a:solidFill>
                  <a:srgbClr val="B0C8D8"/>
                </a:solidFill>
              </a:rPr>
              <a:t>P → ΔT → ΔR → ΔV</a:t>
            </a:r>
          </a:p>
          <a:p>
            <a:pPr algn="l"/>
            <a:r>
              <a:rPr sz="1100" b="0">
                <a:solidFill>
                  <a:srgbClr val="B0C8D8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B0C8D8"/>
                </a:solidFill>
              </a:rPr>
              <a:t>Saturazione termica (ΔT &gt; ΔT_max)</a:t>
            </a:r>
          </a:p>
          <a:p>
            <a:pPr algn="l"/>
            <a:r>
              <a:rPr sz="1100" b="0">
                <a:solidFill>
                  <a:srgbClr val="B0C8D8"/>
                </a:solidFill>
              </a:rPr>
              <a:t>e saturazione elettrica (|ΔV| &gt; V_sat).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868680"/>
            <a:ext cx="2651760" cy="3840480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46120" y="868680"/>
            <a:ext cx="2651760" cy="347472"/>
          </a:xfrm>
          <a:prstGeom prst="rect">
            <a:avLst/>
          </a:prstGeom>
          <a:solidFill>
            <a:srgbClr val="09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905256"/>
            <a:ext cx="2468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BLOCCO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1252728"/>
            <a:ext cx="24688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Modulo Rumore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1709928"/>
            <a:ext cx="246887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8D8"/>
                </a:solidFill>
              </a:rPr>
              <a:t>Rumore gaussiano generico</a:t>
            </a:r>
          </a:p>
          <a:p>
            <a:pPr algn="l"/>
            <a:r>
              <a:rPr sz="1100" b="0">
                <a:solidFill>
                  <a:srgbClr val="B0C8D8"/>
                </a:solidFill>
              </a:rPr>
              <a:t>(rms = V_noise = 10⁻⁵ V).</a:t>
            </a:r>
          </a:p>
          <a:p>
            <a:pPr algn="l"/>
            <a:r>
              <a:rPr sz="1100" b="0">
                <a:solidFill>
                  <a:srgbClr val="B0C8D8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B0C8D8"/>
                </a:solidFill>
              </a:rPr>
              <a:t>Calcola SNR e NEP</a:t>
            </a:r>
          </a:p>
          <a:p>
            <a:pPr algn="l"/>
            <a:r>
              <a:rPr sz="1100" b="0">
                <a:solidFill>
                  <a:srgbClr val="B0C8D8"/>
                </a:solidFill>
              </a:rPr>
              <a:t>per ogni punto di potenza.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868680"/>
            <a:ext cx="2651760" cy="3840480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2" y="868680"/>
            <a:ext cx="2651760" cy="347472"/>
          </a:xfrm>
          <a:prstGeom prst="rect">
            <a:avLst/>
          </a:prstGeom>
          <a:solidFill>
            <a:srgbClr val="09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91072" y="905256"/>
            <a:ext cx="2468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BLOCCO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1072" y="1252728"/>
            <a:ext cx="24688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Densità di Potenza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072" y="1709928"/>
            <a:ext cx="246887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8D8"/>
                </a:solidFill>
              </a:rPr>
              <a:t>Spettro di Planck B(f,T)</a:t>
            </a:r>
          </a:p>
          <a:p>
            <a:pPr algn="l"/>
            <a:r>
              <a:rPr sz="1100" b="0">
                <a:solidFill>
                  <a:srgbClr val="B0C8D8"/>
                </a:solidFill>
              </a:rPr>
              <a:t>a T = 85 eV (~10⁶ K).</a:t>
            </a:r>
          </a:p>
          <a:p>
            <a:pPr algn="l"/>
            <a:r>
              <a:rPr sz="1100" b="0">
                <a:solidFill>
                  <a:srgbClr val="B0C8D8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B0C8D8"/>
                </a:solidFill>
              </a:rPr>
              <a:t>Assorbanza A(f) del Platino.</a:t>
            </a:r>
          </a:p>
          <a:p>
            <a:pPr algn="l"/>
            <a:r>
              <a:rPr sz="1100" b="0">
                <a:solidFill>
                  <a:srgbClr val="B0C8D8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B0C8D8"/>
                </a:solidFill>
              </a:rPr>
              <a:t>P_abs = ∫ B·A df  [W/m²/sr]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9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9144000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8503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BLOCCO 1 — CATENA FISICA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B4D8"/>
                </a:solidFill>
              </a:rPr>
              <a:t>Modello stazionario: bilancio termico + TCR + corrente di bias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828800" cy="2011680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1828800" cy="457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02412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P
[W]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55448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8D8"/>
                </a:solidFill>
              </a:rPr>
              <a:t>Potenza
assorbita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16916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B4D8"/>
                </a:solidFill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80" y="1005840"/>
            <a:ext cx="1828800" cy="2011680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68880" y="1005840"/>
            <a:ext cx="1828800" cy="4572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14600" y="102412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ΔT
[K]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155448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8D8"/>
                </a:solidFill>
              </a:rPr>
              <a:t>ΔT = P / 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16916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B4D8"/>
                </a:solidFill>
              </a:rPr>
              <a:t>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1005840"/>
            <a:ext cx="1828800" cy="2011680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63440" y="1005840"/>
            <a:ext cx="1828800" cy="4572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9159" y="102412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ΔR
[Ω]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79" y="155448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8D8"/>
                </a:solidFill>
              </a:rPr>
              <a:t>ΔR = R₀·α·ΔT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0527" y="16916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B4D8"/>
                </a:solidFill>
              </a:rPr>
              <a:t>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0" y="1005840"/>
            <a:ext cx="1828800" cy="2011680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0" y="1005840"/>
            <a:ext cx="1828800" cy="45720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3720" y="102412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ΔV
[V]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55448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8D8"/>
                </a:solidFill>
              </a:rPr>
              <a:t>ΔV = I_bias·ΔR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3246120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GESTIONE SATURAZIONE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566160"/>
            <a:ext cx="4114800" cy="1234440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361188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6F51"/>
                </a:solidFill>
              </a:rPr>
              <a:t>🌡  Termica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393192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D8"/>
                </a:solidFill>
              </a:rPr>
              <a:t>Se ΔT &gt; ΔT_max (50 K) il sensore è in pericolo di danno fisico.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0" y="3566160"/>
            <a:ext cx="4114800" cy="1234440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92040" y="361188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4A261"/>
                </a:solidFill>
              </a:rPr>
              <a:t>⚡  Elettrica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92040" y="393192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D8"/>
                </a:solidFill>
              </a:rPr>
              <a:t>Se |ΔV| &gt; V_sat (1.0 V) l'amplificatore va in saturazione (rail).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9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9144000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8503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PARAMETRI FISICI DEL BOLOMETRO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B4D8"/>
                </a:solidFill>
              </a:rPr>
              <a:t>Valori tipici di riferimento per un bolometro a foglio metallico (Platino)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68680"/>
            <a:ext cx="8595360" cy="384048"/>
          </a:xfrm>
          <a:prstGeom prst="rect">
            <a:avLst/>
          </a:prstGeom>
          <a:solidFill>
            <a:srgbClr val="09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89611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Parametro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8961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Simbolo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89611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Valore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8961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Unità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252728"/>
            <a:ext cx="8595360" cy="374904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12801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D8"/>
                </a:solidFill>
              </a:rPr>
              <a:t>Resistenza 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12801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12801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12801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1627632"/>
            <a:ext cx="8595360" cy="374904"/>
          </a:xfrm>
          <a:prstGeom prst="rect">
            <a:avLst/>
          </a:prstGeom>
          <a:solidFill>
            <a:srgbClr val="12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1655063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D8"/>
                </a:solidFill>
              </a:rPr>
              <a:t>TCR (Platino)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1655063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1655063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3.9×10⁻³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1655063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1/K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002536"/>
            <a:ext cx="8595360" cy="374904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2029967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D8"/>
                </a:solidFill>
              </a:rPr>
              <a:t>Conduttanza termica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202996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2029967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1×10⁻⁴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202996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W/K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2377440"/>
            <a:ext cx="8595360" cy="374904"/>
          </a:xfrm>
          <a:prstGeom prst="rect">
            <a:avLst/>
          </a:prstGeom>
          <a:solidFill>
            <a:srgbClr val="12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240487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D8"/>
                </a:solidFill>
              </a:rPr>
              <a:t>Capacità termica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24048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0" y="240487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1×10⁻⁶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24048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J/K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2752344"/>
            <a:ext cx="8595360" cy="374904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2779776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D8"/>
                </a:solidFill>
              </a:rPr>
              <a:t>Corrente di bias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277977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I_bias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277977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1×10⁻³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277977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3127248"/>
            <a:ext cx="8595360" cy="374904"/>
          </a:xfrm>
          <a:prstGeom prst="rect">
            <a:avLst/>
          </a:prstGeom>
          <a:solidFill>
            <a:srgbClr val="12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" y="3154679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D8"/>
                </a:solidFill>
              </a:rPr>
              <a:t>Temperatura base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0" y="315467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0" y="315467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300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32320" y="315467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3502152"/>
            <a:ext cx="8595360" cy="374904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3529584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D8"/>
                </a:solidFill>
              </a:rPr>
              <a:t>Saturazione tensione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40480" y="3529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V_sat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0" y="352958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1.0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32320" y="3529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V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3877056"/>
            <a:ext cx="8595360" cy="374904"/>
          </a:xfrm>
          <a:prstGeom prst="rect">
            <a:avLst/>
          </a:prstGeom>
          <a:solidFill>
            <a:srgbClr val="12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" y="3904487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D8"/>
                </a:solidFill>
              </a:rPr>
              <a:t>Saturazione termica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40480" y="39044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ΔT_max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904487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32320" y="39044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K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4251960"/>
            <a:ext cx="8595360" cy="374904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" y="427939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D8"/>
                </a:solidFill>
              </a:rPr>
              <a:t>Banda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40480" y="42793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BW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0" y="427939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1×10³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32320" y="42793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Hz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4626864"/>
            <a:ext cx="8595360" cy="374904"/>
          </a:xfrm>
          <a:prstGeom prst="rect">
            <a:avLst/>
          </a:prstGeom>
          <a:solidFill>
            <a:srgbClr val="12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4320" y="4654296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D8"/>
                </a:solidFill>
              </a:rPr>
              <a:t>Rumore rms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840480" y="465429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V_noise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0" y="465429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1×10⁻⁵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132320" y="465429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V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223760" y="2286000"/>
            <a:ext cx="1737360" cy="1005840"/>
          </a:xfrm>
          <a:prstGeom prst="rect">
            <a:avLst/>
          </a:prstGeom>
          <a:solidFill>
            <a:srgbClr val="09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15200" y="23317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B4D8"/>
                </a:solidFill>
              </a:rPr>
              <a:t>τ = C/G = 10 ms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0" y="27432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D8"/>
                </a:solidFill>
              </a:rPr>
              <a:t>costante di tempo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9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9144000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8503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BLOCCO 2 — MODULO RUMORE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B4D8"/>
                </a:solidFill>
              </a:rPr>
              <a:t>Rumore gaussiano generico aggiunto al segnale saturato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68680"/>
            <a:ext cx="8595360" cy="1005840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9144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Modello di rumore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34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ΔV_noisy = ΔV + V_noise · 𝒩(0,1)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10972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4A261"/>
                </a:solidFill>
              </a:rPr>
              <a:t>NEP = V_noise · G / (I_bias · R₀ · α)  ≈  2.56×10⁻⁶ 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011680"/>
            <a:ext cx="2697480" cy="2834640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011680"/>
            <a:ext cx="2697480" cy="457200"/>
          </a:xfrm>
          <a:prstGeom prst="rect">
            <a:avLst/>
          </a:prstGeom>
          <a:solidFill>
            <a:srgbClr val="09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029968"/>
            <a:ext cx="2514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76F51"/>
                </a:solidFill>
              </a:rPr>
              <a:t>RUMORE
DOMINANTE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1460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SNR &lt;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2926080"/>
            <a:ext cx="2423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C8D8"/>
                </a:solidFill>
              </a:rPr>
              <a:t>Il segnale è sepolto nel rumore.
Ricupero impossibile.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6120" y="2011680"/>
            <a:ext cx="2697480" cy="2834640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46120" y="2011680"/>
            <a:ext cx="2697480" cy="457200"/>
          </a:xfrm>
          <a:prstGeom prst="rect">
            <a:avLst/>
          </a:prstGeom>
          <a:solidFill>
            <a:srgbClr val="09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7560" y="2029968"/>
            <a:ext cx="2514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A9D8F"/>
                </a:solidFill>
              </a:rPr>
              <a:t>RICOSTRUIBILE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251460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SNR ≥ 1 e non saturato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79" y="2926080"/>
            <a:ext cx="2423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C8D8"/>
                </a:solidFill>
              </a:rPr>
              <a:t>Inversione del modello affidabile.
Regime operativo ottimale.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011680"/>
            <a:ext cx="2697480" cy="2834640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2011680"/>
            <a:ext cx="2697480" cy="457200"/>
          </a:xfrm>
          <a:prstGeom prst="rect">
            <a:avLst/>
          </a:prstGeom>
          <a:solidFill>
            <a:srgbClr val="09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59" y="2029968"/>
            <a:ext cx="2514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4A261"/>
                </a:solidFill>
              </a:rPr>
              <a:t>SATURATO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59" y="251460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ΔT &gt; 50K  o  |ΔV| &gt; 1V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26080"/>
            <a:ext cx="2423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C8D8"/>
                </a:solidFill>
              </a:rPr>
              <a:t>Limite fisico raggiunto.
Informazione parziale o nulla.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9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9144000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8503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RISULTATI — BLOCCHI 1 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749808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D8"/>
                </a:solidFill>
              </a:rPr>
              <a:t>Segnale ideale (sx) e segnale reale con saturazione + rumore (dx).</a:t>
            </a:r>
          </a:p>
        </p:txBody>
      </p:sp>
      <p:pic>
        <p:nvPicPr>
          <p:cNvPr id="7" name="Picture 6" descr="blocchi_1_2_risulta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859536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9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9144000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8503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BLOCCO 3 — RADIAZIONE DI CORPO NERO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B4D8"/>
                </a:solidFill>
              </a:rPr>
              <a:t>Spettro di Planck integrato sull'assorbanza del platino → potenza assorbita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68680"/>
            <a:ext cx="5486400" cy="2103120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9144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Formula di Planck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B(f,T) = (2hf³/c²) / (e^(hf/kT) − 1)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830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D8"/>
                </a:solidFill>
              </a:rPr>
              <a:t>h = 6.626×10⁻³⁴ J·s    c = 3×10⁸ m/s    k_B = 1.381×10⁻²³ J/K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860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B0C8D8"/>
                </a:solidFill>
              </a:rPr>
              <a:t>Unità: W / m² / sr / Hz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868680"/>
            <a:ext cx="2834640" cy="2103120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914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Parametri sorgente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298448"/>
            <a:ext cx="2560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8D8"/>
                </a:solidFill>
              </a:rPr>
              <a:t>T = 85 eV ≈ 10⁶ K</a:t>
            </a:r>
          </a:p>
          <a:p>
            <a:pPr algn="l"/>
            <a:r>
              <a:rPr sz="1100" b="0">
                <a:solidFill>
                  <a:srgbClr val="B0C8D8"/>
                </a:solidFill>
              </a:rPr>
              <a:t>(plasma di bordo, fusione)</a:t>
            </a:r>
          </a:p>
          <a:p>
            <a:pPr algn="l"/>
            <a:r>
              <a:rPr sz="1100" b="0">
                <a:solidFill>
                  <a:srgbClr val="B0C8D8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B0C8D8"/>
                </a:solidFill>
              </a:rPr>
              <a:t>f_peak ≈ 6×10¹⁶ Hz</a:t>
            </a:r>
          </a:p>
          <a:p>
            <a:pPr algn="l"/>
            <a:r>
              <a:rPr sz="1100" b="0">
                <a:solidFill>
                  <a:srgbClr val="B0C8D8"/>
                </a:solidFill>
              </a:rPr>
              <a:t>(raggi X molli)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154680"/>
            <a:ext cx="8595360" cy="1691640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200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Range di frequenze integrato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566160"/>
            <a:ext cx="1463040" cy="502920"/>
          </a:xfrm>
          <a:prstGeom prst="rect">
            <a:avLst/>
          </a:prstGeom>
          <a:solidFill>
            <a:srgbClr val="09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58444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3×10¹⁴ Hz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8404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D8"/>
                </a:solidFill>
              </a:rPr>
              <a:t>NIR
1000 nm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47088" y="3703320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48256" y="3566160"/>
            <a:ext cx="1463040" cy="502920"/>
          </a:xfrm>
          <a:prstGeom prst="rect">
            <a:avLst/>
          </a:prstGeom>
          <a:solidFill>
            <a:srgbClr val="09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3976" y="358444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3×10¹⁵ Hz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93976" y="38404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D8"/>
                </a:solidFill>
              </a:rPr>
              <a:t>UV
100 nm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9584" y="3703320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30752" y="3566160"/>
            <a:ext cx="1463040" cy="502920"/>
          </a:xfrm>
          <a:prstGeom prst="rect">
            <a:avLst/>
          </a:prstGeom>
          <a:solidFill>
            <a:srgbClr val="09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76472" y="358444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3×10¹⁶ Hz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6472" y="38404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D8"/>
                </a:solidFill>
              </a:rPr>
              <a:t>EUV
10 nm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3703320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13248" y="3566160"/>
            <a:ext cx="1463040" cy="502920"/>
          </a:xfrm>
          <a:prstGeom prst="rect">
            <a:avLst/>
          </a:prstGeom>
          <a:solidFill>
            <a:srgbClr val="09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58968" y="358444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3×10¹⁷ Hz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58968" y="38404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D8"/>
                </a:solidFill>
              </a:rPr>
              <a:t>X molli
1 nm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703320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95744" y="3566160"/>
            <a:ext cx="1463040" cy="502920"/>
          </a:xfrm>
          <a:prstGeom prst="rect">
            <a:avLst/>
          </a:prstGeom>
          <a:solidFill>
            <a:srgbClr val="09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41464" y="358444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3×10¹⁸ Hz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41464" y="38404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D8"/>
                </a:solidFill>
              </a:rPr>
              <a:t>Raggi X
0.1 nm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9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9144000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8503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BLOCCO 3 — ASSORBANZA DEL PLATINO A(f)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B4D8"/>
                </a:solidFill>
              </a:rPr>
              <a:t>Modello semplificato: interpolazione lineare in log su 7 punti dalla letteratura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68680"/>
            <a:ext cx="5029200" cy="3931920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91440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Punti chiave (letteratura)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61872"/>
            <a:ext cx="5029200" cy="320040"/>
          </a:xfrm>
          <a:prstGeom prst="rect">
            <a:avLst/>
          </a:prstGeom>
          <a:solidFill>
            <a:srgbClr val="09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80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f [Hz]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280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Range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1280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A(f)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581912"/>
            <a:ext cx="5029200" cy="338328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6093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3×10¹⁴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16093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NIR  1000nm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6093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0.20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1920240"/>
            <a:ext cx="5029200" cy="338328"/>
          </a:xfrm>
          <a:prstGeom prst="rect">
            <a:avLst/>
          </a:prstGeom>
          <a:solidFill>
            <a:srgbClr val="12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194767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6×10¹⁴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194767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VIS   500nm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194767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0.30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258568"/>
            <a:ext cx="5029200" cy="338328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2860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1.5×10¹⁵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22860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UV   200nm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22860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0.50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596896"/>
            <a:ext cx="5029200" cy="338328"/>
          </a:xfrm>
          <a:prstGeom prst="rect">
            <a:avLst/>
          </a:prstGeom>
          <a:solidFill>
            <a:srgbClr val="12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2624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3×10¹⁵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2624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VUV  100nm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2624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0.65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2935224"/>
            <a:ext cx="5029200" cy="338328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96265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3×10¹⁶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296265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EUV   10nm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0" y="296265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0.80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273552"/>
            <a:ext cx="5029200" cy="338328"/>
          </a:xfrm>
          <a:prstGeom prst="rect">
            <a:avLst/>
          </a:prstGeom>
          <a:solidFill>
            <a:srgbClr val="12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30098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3×10¹⁷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330098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X-soft  1nm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0" y="330098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0.95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3611879"/>
            <a:ext cx="5029200" cy="338328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3639311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3×10¹⁸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03120" y="3639311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X-ray 0.1nm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40480" y="3639311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0.99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77840" y="868680"/>
            <a:ext cx="3291840" cy="3931920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60720" y="914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Formula MATLAB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60720" y="1298448"/>
            <a:ext cx="2926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8FF"/>
                </a:solidFill>
              </a:rPr>
              <a:t>A = interp1(</a:t>
            </a:r>
          </a:p>
          <a:p>
            <a:pPr algn="l"/>
            <a:r>
              <a:rPr sz="1000" b="0">
                <a:solidFill>
                  <a:srgbClr val="A8D8FF"/>
                </a:solidFill>
              </a:rPr>
              <a:t>  log10(f_data),</a:t>
            </a:r>
          </a:p>
          <a:p>
            <a:pPr algn="l"/>
            <a:r>
              <a:rPr sz="1000" b="0">
                <a:solidFill>
                  <a:srgbClr val="A8D8FF"/>
                </a:solidFill>
              </a:rPr>
              <a:t>  A_data,</a:t>
            </a:r>
          </a:p>
          <a:p>
            <a:pPr algn="l"/>
            <a:r>
              <a:rPr sz="1000" b="0">
                <a:solidFill>
                  <a:srgbClr val="A8D8FF"/>
                </a:solidFill>
              </a:rPr>
              <a:t>  log10(f),</a:t>
            </a:r>
          </a:p>
          <a:p>
            <a:pPr algn="l"/>
            <a:r>
              <a:rPr sz="1000" b="0">
                <a:solidFill>
                  <a:srgbClr val="A8D8FF"/>
                </a:solidFill>
              </a:rPr>
              <a:t>  'linear', 'extrap'</a:t>
            </a:r>
          </a:p>
          <a:p>
            <a:pPr algn="l"/>
            <a:r>
              <a:rPr sz="1000" b="0">
                <a:solidFill>
                  <a:srgbClr val="A8D8FF"/>
                </a:solidFill>
              </a:rPr>
              <a:t>);</a:t>
            </a:r>
          </a:p>
          <a:p>
            <a:pPr algn="l"/>
            <a:r>
              <a:rPr sz="1000" b="0">
                <a:solidFill>
                  <a:srgbClr val="A8D8FF"/>
                </a:solidFill>
              </a:rPr>
              <a:t>A = max(0, min(1, A));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60720" y="39319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B0C8D8"/>
                </a:solidFill>
              </a:rPr>
              <a:t>Interpolazione lineare
in spazio log-log.
Clamp in [0, 1].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9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9144000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8503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BLOCCO 3 — POTENZA ASSORBITA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B4D8"/>
                </a:solidFill>
              </a:rPr>
              <a:t>Integrale numerico (regola dei trapezi) su 500 punti in scala logaritmica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68680"/>
            <a:ext cx="8595360" cy="1188720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P_abs = ∫ B(f,T) · A(f) 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972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D8"/>
                </a:solidFill>
              </a:rPr>
              <a:t>[W / m² / sr]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087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B4D8"/>
                </a:solidFill>
              </a:rPr>
              <a:t>Implementazione: trapz(f, B .* A)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286000"/>
            <a:ext cx="2011680" cy="2560320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286000"/>
            <a:ext cx="2011680" cy="411480"/>
          </a:xfrm>
          <a:prstGeom prst="rect">
            <a:avLst/>
          </a:prstGeom>
          <a:solidFill>
            <a:srgbClr val="09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2304288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32257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Genera 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278892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8FF"/>
                </a:solidFill>
              </a:rPr>
              <a:t>logspace(log10(3e14),</a:t>
            </a:r>
          </a:p>
          <a:p>
            <a:pPr algn="l"/>
            <a:r>
              <a:rPr sz="1000" b="0">
                <a:solidFill>
                  <a:srgbClr val="A8D8FF"/>
                </a:solidFill>
              </a:rPr>
              <a:t>log10(3e18), 500)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04288" y="329184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68879" y="2286000"/>
            <a:ext cx="2011680" cy="2560320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68879" y="2286000"/>
            <a:ext cx="2011680" cy="411480"/>
          </a:xfrm>
          <a:prstGeom prst="rect">
            <a:avLst/>
          </a:prstGeom>
          <a:solidFill>
            <a:srgbClr val="09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42032" y="2304288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232257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Calcola B(f,T)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78608" y="278892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8FF"/>
                </a:solidFill>
              </a:rPr>
              <a:t>(2hf³/c²)/</a:t>
            </a:r>
          </a:p>
          <a:p>
            <a:pPr algn="l"/>
            <a:r>
              <a:rPr sz="1000" b="0">
                <a:solidFill>
                  <a:srgbClr val="A8D8FF"/>
                </a:solidFill>
              </a:rPr>
              <a:t>(e^(hf/kT)−1)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329184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63440" y="2286000"/>
            <a:ext cx="2011680" cy="2560320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63440" y="2286000"/>
            <a:ext cx="2011680" cy="411480"/>
          </a:xfrm>
          <a:prstGeom prst="rect">
            <a:avLst/>
          </a:prstGeom>
          <a:solidFill>
            <a:srgbClr val="09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36592" y="2304288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4A261"/>
                </a:solidFill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232257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Assorbanza A(f)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73168" y="278892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8FF"/>
                </a:solidFill>
              </a:rPr>
              <a:t>platinum_absorptance(f)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93408" y="329184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7999" y="2286000"/>
            <a:ext cx="2011680" cy="2560320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7999" y="2286000"/>
            <a:ext cx="2011680" cy="411480"/>
          </a:xfrm>
          <a:prstGeom prst="rect">
            <a:avLst/>
          </a:prstGeom>
          <a:solidFill>
            <a:srgbClr val="09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31151" y="2304288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6F51"/>
                </a:solidFill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69479" y="232257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Integra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67727" y="278892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8FF"/>
                </a:solidFill>
              </a:rPr>
              <a:t>P_abs = trapz(f, B.*A)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4709160"/>
            <a:ext cx="8595360" cy="320040"/>
          </a:xfrm>
          <a:prstGeom prst="rect">
            <a:avLst/>
          </a:prstGeom>
          <a:solidFill>
            <a:srgbClr val="09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7365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4A261"/>
                </a:solidFill>
              </a:rPr>
              <a:t>Risultato con T = 85 eV:   P_abs ≈ 1.46×10¹⁶ W/m²/sr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9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9144000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8503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RISULTATI — BLOCCO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749808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D8"/>
                </a:solidFill>
              </a:rPr>
              <a:t>Spettro di Planck · Assorbanza Pt · Integrando B·A  (T = 85 eV, range 3×10¹⁴ – 3×10¹⁸ Hz)</a:t>
            </a:r>
          </a:p>
        </p:txBody>
      </p:sp>
      <p:pic>
        <p:nvPicPr>
          <p:cNvPr id="7" name="Picture 6" descr="blocco3_risulta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859536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9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9144000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8503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PIPELINE COMPLETA — BLOCCHI 1 + 2 + 3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B4D8"/>
                </a:solidFill>
              </a:rPr>
              <a:t>Dalla sorgente fisica all'uscita del sensore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188720"/>
            <a:ext cx="1280160" cy="1554480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1188720"/>
            <a:ext cx="1280160" cy="3200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207008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CORPO NERO
T = 85 eV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1572768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D8"/>
                </a:solidFill>
              </a:rPr>
              <a:t>B(f,T)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7830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64208" y="1188720"/>
            <a:ext cx="1280160" cy="1554480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64208" y="1188720"/>
            <a:ext cx="1280160" cy="32004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09928" y="1207008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ASSORBANZA
Platino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09928" y="1572768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D8"/>
                </a:solidFill>
              </a:rPr>
              <a:t>× A(f)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62656" y="17830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45536" y="1188720"/>
            <a:ext cx="1280160" cy="1554480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145536" y="1188720"/>
            <a:ext cx="1280160" cy="32004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91256" y="1207008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POTENZA
Assorbita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91256" y="1572768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D8"/>
                </a:solidFill>
              </a:rPr>
              <a:t>∫ df → P_abs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3984" y="17830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26864" y="1188720"/>
            <a:ext cx="1280160" cy="1554480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26864" y="1188720"/>
            <a:ext cx="1280160" cy="320040"/>
          </a:xfrm>
          <a:prstGeom prst="rect">
            <a:avLst/>
          </a:prstGeom>
          <a:solidFill>
            <a:srgbClr val="E0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72584" y="1207008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FORWARD
MODEL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72584" y="1572768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D8"/>
                </a:solidFill>
              </a:rPr>
              <a:t>P → ΔV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25312" y="17830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08192" y="1188720"/>
            <a:ext cx="1280160" cy="1554480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08192" y="1188720"/>
            <a:ext cx="1280160" cy="32004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53912" y="1207008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RUMORE
Gaussiano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53912" y="1572768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D8"/>
                </a:solidFill>
              </a:rPr>
              <a:t>+ V_noise·𝒩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06640" y="17830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89520" y="1188720"/>
            <a:ext cx="1280160" cy="1554480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589520" y="1188720"/>
            <a:ext cx="12801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35240" y="1207008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D2137"/>
                </a:solidFill>
              </a:rPr>
              <a:t>USCITA
ΔV_noisy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35240" y="1572768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D8"/>
                </a:solidFill>
              </a:rPr>
              <a:t>[V]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2880" y="2971800"/>
            <a:ext cx="8595360" cy="1920240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17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Codice MATLAB — utilizzo completo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3401568"/>
            <a:ext cx="8321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D8FF"/>
                </a:solidFill>
              </a:rPr>
              <a:t>p   = bolometer_params();</a:t>
            </a:r>
          </a:p>
          <a:p>
            <a:pPr algn="l"/>
            <a:r>
              <a:rPr sz="1100" b="0">
                <a:solidFill>
                  <a:srgbClr val="A8D8FF"/>
                </a:solidFill>
              </a:rPr>
              <a:t>pd  = power_density(T_source, p);    % Blocco 3: P_abs</a:t>
            </a:r>
          </a:p>
          <a:p>
            <a:pPr algn="l"/>
            <a:r>
              <a:rPr sz="1100" b="0">
                <a:solidFill>
                  <a:srgbClr val="A8D8FF"/>
                </a:solidFill>
              </a:rPr>
              <a:t>fwd = forward_model(pd.P_abs, p);    % Blocco 1: ΔV</a:t>
            </a:r>
          </a:p>
          <a:p>
            <a:pPr algn="l"/>
            <a:r>
              <a:rPr sz="1100" b="0">
                <a:solidFill>
                  <a:srgbClr val="A8D8FF"/>
                </a:solidFill>
              </a:rPr>
              <a:t>nr  = add_noise_to_signal(fwd.DeltaV, p);  % Blocco 2: ΔV_noisy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9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9144000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8503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STRUTTURA DEI 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B4D8"/>
                </a:solidFill>
              </a:rPr>
              <a:t>Cartella: blocco_1_2_3/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68680"/>
            <a:ext cx="8595360" cy="347472"/>
          </a:xfrm>
          <a:prstGeom prst="rect">
            <a:avLst/>
          </a:prstGeom>
          <a:solidFill>
            <a:srgbClr val="09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8961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8961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Blocco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8961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Descrizione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216152"/>
            <a:ext cx="8595360" cy="402336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243584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D8FF"/>
                </a:solidFill>
              </a:rPr>
              <a:t>bolometer_params.m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243584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4A261"/>
                </a:solidFill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243584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D8"/>
                </a:solidFill>
              </a:rPr>
              <a:t>Parametri fisici del bolometro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618488"/>
            <a:ext cx="8595360" cy="402336"/>
          </a:xfrm>
          <a:prstGeom prst="rect">
            <a:avLst/>
          </a:prstGeom>
          <a:solidFill>
            <a:srgbClr val="12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1645920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D8FF"/>
                </a:solidFill>
              </a:rPr>
              <a:t>forward_model.m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1645920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4A261"/>
                </a:solidFill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1645920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D8"/>
                </a:solidFill>
              </a:rPr>
              <a:t>P → ΔT → ΔR → ΔV con saturazione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020824"/>
            <a:ext cx="8595360" cy="402336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048256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D8FF"/>
                </a:solidFill>
              </a:rPr>
              <a:t>add_noise_to_signal.m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2048256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4A261"/>
                </a:solidFill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2048256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D8"/>
                </a:solidFill>
              </a:rPr>
              <a:t>Rumore gaussiano generico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423160"/>
            <a:ext cx="8595360" cy="402336"/>
          </a:xfrm>
          <a:prstGeom prst="rect">
            <a:avLst/>
          </a:prstGeom>
          <a:solidFill>
            <a:srgbClr val="12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2450592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D8FF"/>
                </a:solidFill>
              </a:rPr>
              <a:t>platinum_absorptance.m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2450592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4A261"/>
                </a:solidFill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89320" y="2450592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D8"/>
                </a:solidFill>
              </a:rPr>
              <a:t>Assorbanza A(f) del Platino (NIR → X)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2825496"/>
            <a:ext cx="8595360" cy="402336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2852928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D8FF"/>
                </a:solidFill>
              </a:rPr>
              <a:t>power_density.m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2852928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4A261"/>
                </a:solidFill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89320" y="2852928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D8"/>
                </a:solidFill>
              </a:rPr>
              <a:t>B(f,T) × A(f) integrato → P_abs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3227832"/>
            <a:ext cx="8595360" cy="402336"/>
          </a:xfrm>
          <a:prstGeom prst="rect">
            <a:avLst/>
          </a:prstGeom>
          <a:solidFill>
            <a:srgbClr val="12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3255264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D8FF"/>
                </a:solidFill>
              </a:rPr>
              <a:t>test_blocchi_1_2.m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0640" y="3255264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4A261"/>
                </a:solidFill>
              </a:rPr>
              <a:t>1+2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3255264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D8"/>
                </a:solidFill>
              </a:rPr>
              <a:t>Test e figura blocchi 1 e 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630168"/>
            <a:ext cx="8595360" cy="402336"/>
          </a:xfrm>
          <a:prstGeom prst="rect">
            <a:avLst/>
          </a:prstGeom>
          <a:solidFill>
            <a:srgbClr val="16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657600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D8FF"/>
                </a:solidFill>
              </a:rPr>
              <a:t>test_blocco3.m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3657600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4A261"/>
                </a:solidFill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89320" y="3657600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D8"/>
                </a:solidFill>
              </a:rPr>
              <a:t>Test e figura blocco 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4114800"/>
            <a:ext cx="8595360" cy="822960"/>
          </a:xfrm>
          <a:prstGeom prst="rect">
            <a:avLst/>
          </a:prstGeom>
          <a:solidFill>
            <a:srgbClr val="09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4160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Esecuzione rapida: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D8FF"/>
                </a:solidFill>
              </a:rPr>
              <a:t>cd blocco_1_2_3/   →   test_blocchi_1_2   oppure   test_blocco3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