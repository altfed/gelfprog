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BOLOMETER SIMULATOR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</a:t>
            </a:r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ΔT</a:t>
            </a:r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</a:t>
            </a:r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ΔR</a:t>
            </a:r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</a:t>
            </a:r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ΔV</a:t>
            </a:r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+noise → </a:t>
            </a:r>
            <a:pPr indent="0" marL="0">
              <a:buNone/>
            </a:pPr>
            <a:r>
              <a:rPr lang="en-US" sz="22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P_rec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fisica completa di un bolometro resistivo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 misura della potenza radiata da plasmi di fusione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Diagnostiche per plasmi  |  Dr. A. Murari &amp; Prof. M. Gelfusa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un Bolometro?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 la potenza totale radiata dal plasma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plasma emette: Bremsstrahlung, raggi X, UV, radiazione da impurità (C, N, Ne, W)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Sensore: resistenza metallica (Au, Pt) che si riscalda sotto irradiazione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 fondamentale in tutti i tokamak: JET, FTU, AUG, ITER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spettrale richiesto: 1 eV – 1000 eV (VUV + soft X-ray)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0" y="960120"/>
            <a:ext cx="2926080" cy="10515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0" y="1024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Bremsstrahlung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∝ Zeff² · ne · √Te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2194560"/>
            <a:ext cx="2926080" cy="1051560"/>
          </a:xfrm>
          <a:prstGeom prst="rect">
            <a:avLst/>
          </a:prstGeom>
          <a:solidFill>
            <a:srgbClr val="0D1B2A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22585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Radiaz. ciclot.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∝ B² · ne · 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429000"/>
            <a:ext cx="2926080" cy="1051560"/>
          </a:xfrm>
          <a:prstGeom prst="rect">
            <a:avLst/>
          </a:prstGeom>
          <a:solidFill>
            <a:srgbClr val="0D1B2A"/>
          </a:solidFill>
          <a:ln w="254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3493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Impurità (Z)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∝ ne · nz · Lz(Te)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bolometro integra su banda larga — misura la potenza totale, non spettrale.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Fisico: Forward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1828800" cy="1463040"/>
          </a:xfrm>
          <a:prstGeom prst="rect">
            <a:avLst/>
          </a:prstGeom>
          <a:solidFill>
            <a:srgbClr val="0D1B2A"/>
          </a:solidFill>
          <a:ln w="317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assorbita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[W]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78308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1051560"/>
            <a:ext cx="1828800" cy="1463040"/>
          </a:xfrm>
          <a:prstGeom prst="rect">
            <a:avLst/>
          </a:prstGeom>
          <a:solidFill>
            <a:srgbClr val="0D1B2A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04288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04288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ΔT = P / 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04288" y="2148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cond. termica [W/K]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33088" y="178308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1051560"/>
            <a:ext cx="1828800" cy="1463040"/>
          </a:xfrm>
          <a:prstGeom prst="rect">
            <a:avLst/>
          </a:prstGeom>
          <a:solidFill>
            <a:srgbClr val="0D1B2A"/>
          </a:solidFill>
          <a:ln w="317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34256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Resistenza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34256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ΔR = R₀·α·ΔT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34256" y="2148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TCR [1/K]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63056" y="178308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4224" y="1051560"/>
            <a:ext cx="1828800" cy="1463040"/>
          </a:xfrm>
          <a:prstGeom prst="rect">
            <a:avLst/>
          </a:prstGeom>
          <a:solidFill>
            <a:srgbClr val="0D1B2A"/>
          </a:solidFill>
          <a:ln w="317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64224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64224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ΔV = I_bias·ΔR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64224" y="2148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I_bias = corrente [A]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=  ΔV / P  =  I_bias · R₀ · α / G     [V/W]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85800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3.90 V/W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Aumentare R₀, α, I_bias  oppure  diminuire G  →  sensibilità maggiore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Saturazione: ΔT &gt; ΔT_max  oppure  |ΔV| &gt; V_sat  →  clipping dell'uscita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del Rumore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51760" cy="26060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26517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 di Johnson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399032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V_J = √(4·kB·T₀·R₀·BW)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8928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× 10⁻⁸ 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322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 del totale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Agitazione termica nella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resistenza del sensore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960120"/>
            <a:ext cx="2651760" cy="2606040"/>
          </a:xfrm>
          <a:prstGeom prst="rect">
            <a:avLst/>
          </a:prstGeom>
          <a:solidFill>
            <a:srgbClr val="0D1B2A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960120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 Amplificatore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72968" y="1399032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V_A = e_n · √BW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72968" y="18928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× 10⁻⁷ 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72968" y="2322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del totale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72968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e_n = 10 nV/√Hz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= 1 kHz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25896" y="960120"/>
            <a:ext cx="2651760" cy="2606040"/>
          </a:xfrm>
          <a:prstGeom prst="rect">
            <a:avLst/>
          </a:prstGeom>
          <a:solidFill>
            <a:srgbClr val="0D1B2A"/>
          </a:solidFill>
          <a:ln w="254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960120"/>
            <a:ext cx="2651760" cy="34747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25896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Quantizzazione ADC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25896" y="1399032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V_Q = (V_range/2^N) / √12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25896" y="18928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8.8 × 10⁻⁶ 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25896" y="2322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del totale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25896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16-bit, range 2 V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sorgente dominante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E3A5F"/>
          </a:solidFill>
          <a:ln w="25400">
            <a:solidFill>
              <a:srgbClr val="F77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2219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V_noise = √(V_J² + V_A² + V_Q²)  =  8.82 × 10⁻⁶ V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42976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NEP  =  V_noise / S  =  2.26 × 10⁻⁶ W          (sorgenti indipendenti → somma in quadratura)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Ricostruzione: Modello Inverso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645920" cy="914400"/>
          </a:xfrm>
          <a:prstGeom prst="rect">
            <a:avLst/>
          </a:prstGeom>
          <a:solidFill>
            <a:srgbClr val="0D1B2A"/>
          </a:solidFill>
          <a:ln w="254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51560"/>
            <a:ext cx="1645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P_true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1508760"/>
            <a:ext cx="411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1051560"/>
            <a:ext cx="1645920" cy="9144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23160" y="1051560"/>
            <a:ext cx="1645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ΔV_ideal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S·P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69080" y="1508760"/>
            <a:ext cx="411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051560"/>
            <a:ext cx="1645920" cy="914400"/>
          </a:xfrm>
          <a:prstGeom prst="rect">
            <a:avLst/>
          </a:prstGeom>
          <a:solidFill>
            <a:srgbClr val="0D1B2A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051560"/>
            <a:ext cx="1645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ΔV_noisy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ΔV+noise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411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051560"/>
            <a:ext cx="1645920" cy="914400"/>
          </a:xfrm>
          <a:prstGeom prst="rect">
            <a:avLst/>
          </a:prstGeom>
          <a:solidFill>
            <a:srgbClr val="0D1B2A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051560"/>
            <a:ext cx="1645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ΔV/S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n ~ N(0, V_noise²)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4754880" cy="2240280"/>
          </a:xfrm>
          <a:prstGeom prst="rect">
            <a:avLst/>
          </a:prstGeom>
          <a:solidFill>
            <a:srgbClr val="0D1B2A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6791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(N_MC = 1000)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10896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Genera N copie di ΔV_noisy indipendenti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Inverti ciascuna:  P_k = ΔV_k / 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Calcola  P̄,  σ_P,  CI₉₅  (t-student)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Verifica:  σ_P ≈ NEP  (consistenza analitica)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94960" y="2606040"/>
            <a:ext cx="3383280" cy="22402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2679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Regime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154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noise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|ΔV| &lt; V_noise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3703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ok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≥ 1, non saturo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4251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saturated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|ΔV| ≥ 0.99·V_sat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Sweep: i 3 Regimi</a:t>
            </a:r>
            <a:endParaRPr lang="en-US" sz="2700" dirty="0"/>
          </a:p>
        </p:txBody>
      </p:sp>
      <p:pic>
        <p:nvPicPr>
          <p:cNvPr id="3" name="Image 0" descr="/Users/davspiri/Documents/GitHub/gelfprog/.claude/worktrees/suspicious-lehmann-b08154/bolometer/bolometer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4595" y="713232"/>
            <a:ext cx="547481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 Regimi nel Dettaglio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92608" y="1005840"/>
            <a:ext cx="2697480" cy="3703320"/>
          </a:xfrm>
          <a:prstGeom prst="rect">
            <a:avLst/>
          </a:prstGeom>
          <a:solidFill>
            <a:srgbClr val="0D1B2A"/>
          </a:solidFill>
          <a:ln w="317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92608" y="1005840"/>
            <a:ext cx="269748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10058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 DOMINANTE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" y="1481328"/>
            <a:ext cx="2697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&lt;  NEP = 2.26 × 10⁻⁶ 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2011680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ΔV_ideal &lt; V_noise  →  SNR &lt; 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P_rec è puro rumore gaussiano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informazione sulla P reale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120 punti nel test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1005840"/>
            <a:ext cx="2697480" cy="3703320"/>
          </a:xfrm>
          <a:prstGeom prst="rect">
            <a:avLst/>
          </a:prstGeom>
          <a:solidFill>
            <a:srgbClr val="0D1B2A"/>
          </a:solidFill>
          <a:ln w="317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005840"/>
            <a:ext cx="2697480" cy="38404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0058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RICOSTRUIBILE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72968" y="1481328"/>
            <a:ext cx="2697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NEP  &lt;  P  &lt;  P_sat = 0.256 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64408" y="2011680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∝ P  →  inversione valida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σ(P_rec) ≈ NEP  (costante)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relativo &lt; 0.5%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120 punti  ← range utile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1005840"/>
            <a:ext cx="2697480" cy="3703320"/>
          </a:xfrm>
          <a:prstGeom prst="rect">
            <a:avLst/>
          </a:prstGeom>
          <a:solidFill>
            <a:srgbClr val="0D1B2A"/>
          </a:solidFill>
          <a:ln w="317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53328" y="1005840"/>
            <a:ext cx="2697480" cy="38404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0058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SATURAZIONE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53328" y="1481328"/>
            <a:ext cx="2697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&gt;  P_sat = 0.256 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44768" y="2011680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&gt; ΔT_max  oppure  |ΔV| &gt; V_sat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Amplificatore clippa a V_sat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P_rec piatto: info sulla P persa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120 punti (alta potenza)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di Sensibilità</a:t>
            </a:r>
            <a:endParaRPr lang="en-US" sz="2700" dirty="0"/>
          </a:p>
        </p:txBody>
      </p:sp>
      <p:pic>
        <p:nvPicPr>
          <p:cNvPr id="3" name="Image 0" descr="/Users/davspiri/Documents/GitHub/gelfprog/.claude/worktrees/suspicious-lehmann-b08154/bolometer/bolometer_sensitivity_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4988074" cy="356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37960" y="685800"/>
            <a:ext cx="2377440" cy="3566160"/>
          </a:xfrm>
          <a:prstGeom prst="rect">
            <a:avLst/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29400" y="7589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Lettura del grafico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29400" y="1261872"/>
            <a:ext cx="2176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α, G, I_bias → linee piatte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→ calo lieve ad alti valori (Johnson noise inizia a competere)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Variazione totale &lt; 0.003 dB su ×400 di range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L'ADC determina il DR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436168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  =  V_sat / V_noise  =  101.1 dB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Dynamic Range non dipende da 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4173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  =  P_sat / NEP  =  (V_sat / S)  /  (V_noise / S)  =  V_sat / V_noise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si cancella → il DR dipende solo da V_sat e V_noise, non dai parametri fisici del sensore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931920" cy="2331720"/>
          </a:xfrm>
          <a:prstGeom prst="rect">
            <a:avLst/>
          </a:prstGeom>
          <a:solidFill>
            <a:srgbClr val="0D1B2A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560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migliora il DR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R₀  (↑S, ↑NEP e ↑P_sat si cancellano)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α  (↑S → stessa cancellazione)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G  (↑S → stessa cancellazione)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I_bias  (↑S → stessa cancellazione)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931920" cy="2331720"/>
          </a:xfrm>
          <a:prstGeom prst="rect">
            <a:avLst/>
          </a:prstGeom>
          <a:solidFill>
            <a:srgbClr val="0D1B2A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560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 il DR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30175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N_bits ADC  →  ↓V_Q  →  ↑DR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V_ADC_range  →  ↓V_Q  →  ↑DR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e_n amplificatore  →  ↓V_A  →  ↑DR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V_sat  →  ↑P_sat  →  ↑DR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1508760"/>
          </a:xfrm>
          <a:prstGeom prst="rect">
            <a:avLst/>
          </a:prstGeom>
          <a:solidFill>
            <a:srgbClr val="1A2E42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V/W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9933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 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65960" cy="1508760"/>
          </a:xfrm>
          <a:prstGeom prst="rect">
            <a:avLst/>
          </a:prstGeom>
          <a:solidFill>
            <a:srgbClr val="1A2E42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2.26×10⁻⁶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9933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1965960" cy="1508760"/>
          </a:xfrm>
          <a:prstGeom prst="rect">
            <a:avLst/>
          </a:prstGeom>
          <a:solidFill>
            <a:srgbClr val="1A2E42"/>
          </a:solidFill>
          <a:ln w="254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P_sat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005840"/>
            <a:ext cx="1965960" cy="1508760"/>
          </a:xfrm>
          <a:prstGeom prst="rect">
            <a:avLst/>
          </a:prstGeom>
          <a:solidFill>
            <a:srgbClr val="1A2E42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101.1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9933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modulare: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ΔT → ΔR → ΔV → +noise → P_rec  in MATLAB, ogni step un file separato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domina il rumore: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del noise budget — Johnson e amplificatore trascurabili ai parametri default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= V_sat/V_noise: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 rispetto a R₀/α/G/I_bias — per migliorarlo agire su ADC o amplificatore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regimi misurabili: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floor / ricostruzione valida / saturazione — ben separati su 9 decadi di potenza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Bolometer Simulator</dc:title>
  <dc:subject>PptxGenJS Presentation</dc:subject>
  <dc:creator>PptxGenJS</dc:creator>
  <cp:lastModifiedBy>PptxGenJS</cp:lastModifiedBy>
  <cp:revision>1</cp:revision>
  <dcterms:created xsi:type="dcterms:W3CDTF">2026-05-11T09:43:15Z</dcterms:created>
  <dcterms:modified xsi:type="dcterms:W3CDTF">2026-05-11T09:43:15Z</dcterms:modified>
</cp:coreProperties>
</file>